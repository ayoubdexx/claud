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35240" y="-457200"/>
            <a:ext cx="5120640" cy="7772400"/>
          </a:xfrm>
          <a:prstGeom prst="rect">
            <a:avLst/>
          </a:prstGeom>
          <a:solidFill>
            <a:srgbClr val="FBE4E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rt 3"/>
          <p:cNvSpPr/>
          <p:nvPr/>
        </p:nvSpPr>
        <p:spPr>
          <a:xfrm>
            <a:off x="8138160" y="1051560"/>
            <a:ext cx="4389120" cy="4389120"/>
          </a:xfrm>
          <a:prstGeom prst="heart">
            <a:avLst/>
          </a:prstGeom>
          <a:solidFill>
            <a:srgbClr val="D95C77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art 4"/>
          <p:cNvSpPr/>
          <p:nvPr/>
        </p:nvSpPr>
        <p:spPr>
          <a:xfrm>
            <a:off x="10424160" y="4297680"/>
            <a:ext cx="1828800" cy="1828800"/>
          </a:xfrm>
          <a:prstGeom prst="heart">
            <a:avLst/>
          </a:prstGeom>
          <a:solidFill>
            <a:srgbClr val="C7A24A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art 5"/>
          <p:cNvSpPr/>
          <p:nvPr/>
        </p:nvSpPr>
        <p:spPr>
          <a:xfrm>
            <a:off x="7772400" y="5120640"/>
            <a:ext cx="1005840" cy="1005840"/>
          </a:xfrm>
          <a:prstGeom prst="heart">
            <a:avLst/>
          </a:prstGeom>
          <a:solidFill>
            <a:srgbClr val="D95C77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art 6"/>
          <p:cNvSpPr/>
          <p:nvPr/>
        </p:nvSpPr>
        <p:spPr>
          <a:xfrm>
            <a:off x="841248" y="1298448"/>
            <a:ext cx="310896" cy="310896"/>
          </a:xfrm>
          <a:prstGeom prst="heart">
            <a:avLst/>
          </a:prstGeom>
          <a:solidFill>
            <a:srgbClr val="D95C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8448" y="13716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320">
                <a:solidFill>
                  <a:srgbClr val="D95C77"/>
                </a:solidFill>
                <a:latin typeface="Segoe UI"/>
              </a:rPr>
              <a:t>A PRESENTATION ON HUMAN CONNECTION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084831"/>
            <a:ext cx="1051560" cy="320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78638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6000" b="1" i="0">
                <a:solidFill>
                  <a:srgbClr val="3A2C30"/>
                </a:solidFill>
                <a:latin typeface="Georgia"/>
              </a:rPr>
              <a:t>Love:</a:t>
            </a:r>
          </a:p>
          <a:p>
            <a:pPr algn="l">
              <a:lnSpc>
                <a:spcPct val="102000"/>
              </a:lnSpc>
            </a:pPr>
            <a:r>
              <a:rPr sz="6000" b="1" i="0">
                <a:solidFill>
                  <a:srgbClr val="D95C77"/>
                </a:solidFill>
                <a:latin typeface="Georgia"/>
              </a:rPr>
              <a:t>The Universal Language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709160"/>
            <a:ext cx="6949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8C7B80"/>
                </a:solidFill>
                <a:latin typeface="Segoe UI"/>
              </a:rPr>
              <a:t>Understanding the Power of Human Connection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29107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150">
                <a:solidFill>
                  <a:srgbClr val="8C7B80"/>
                </a:solidFill>
                <a:latin typeface="Segoe U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180">
                <a:solidFill>
                  <a:srgbClr val="8C7B80"/>
                </a:solidFill>
                <a:latin typeface="Segoe UI"/>
              </a:rPr>
              <a:t>LOVE  —  THE UNIVERSAL LANGUAGE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art 2"/>
          <p:cNvSpPr/>
          <p:nvPr/>
        </p:nvSpPr>
        <p:spPr>
          <a:xfrm>
            <a:off x="10607040" y="4937760"/>
            <a:ext cx="2377440" cy="2377440"/>
          </a:xfrm>
          <a:prstGeom prst="heart">
            <a:avLst/>
          </a:prstGeom>
          <a:solidFill>
            <a:srgbClr val="FBE4E8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rt 3"/>
          <p:cNvSpPr/>
          <p:nvPr/>
        </p:nvSpPr>
        <p:spPr>
          <a:xfrm>
            <a:off x="841248" y="786384"/>
            <a:ext cx="274320" cy="274320"/>
          </a:xfrm>
          <a:prstGeom prst="heart">
            <a:avLst/>
          </a:prstGeom>
          <a:solidFill>
            <a:srgbClr val="D95C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43584" y="8412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320">
                <a:solidFill>
                  <a:srgbClr val="D95C77"/>
                </a:solidFill>
                <a:latin typeface="Segoe UI"/>
              </a:rPr>
              <a:t>SECTION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3A2C30"/>
                </a:solidFill>
                <a:latin typeface="Georgia"/>
              </a:rPr>
              <a:t>What Is Love?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975104"/>
            <a:ext cx="822960" cy="320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10332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3A2C30"/>
                </a:solidFill>
                <a:latin typeface="Segoe UI"/>
              </a:rPr>
              <a:t>Love is a deep and enduring bond of care, affection, and connection — </a:t>
            </a:r>
            <a:r>
              <a:rPr sz="1800" b="0" i="1">
                <a:solidFill>
                  <a:srgbClr val="B8405C"/>
                </a:solidFill>
                <a:latin typeface="Segoe UI"/>
              </a:rPr>
              <a:t>a choice to value another’s well-being as our 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7463" y="3429000"/>
            <a:ext cx="2487168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9DD"/>
            </a:solidFill>
          </a:ln>
          <a:effectLst/>
          <a:effectLst>
            <a:outerShdw blurRad="90000" dist="38100" dir="5400000" rotWithShape="0">
              <a:srgbClr val="B8405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32991" y="3730752"/>
            <a:ext cx="896112" cy="896112"/>
          </a:xfrm>
          <a:prstGeom prst="ellipse">
            <a:avLst/>
          </a:prstGeom>
          <a:solidFill>
            <a:srgbClr val="D95C77"/>
          </a:solidFill>
          <a:ln>
            <a:noFill/>
          </a:ln>
          <a:effectLst/>
          <a:effectLst>
            <a:outerShdw blurRad="90000" dist="38100" dir="5400000" rotWithShape="0">
              <a:srgbClr val="B8405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rt 10"/>
          <p:cNvSpPr/>
          <p:nvPr/>
        </p:nvSpPr>
        <p:spPr>
          <a:xfrm>
            <a:off x="1774941" y="3972702"/>
            <a:ext cx="412211" cy="412211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4623" y="4727448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 i="0">
                <a:solidFill>
                  <a:srgbClr val="3A2C30"/>
                </a:solidFill>
                <a:latin typeface="Georgia"/>
              </a:rPr>
              <a:t>Romantic Love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0343" y="5184648"/>
            <a:ext cx="21214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8C7B80"/>
                </a:solidFill>
                <a:latin typeface="Segoe UI"/>
              </a:rPr>
              <a:t>Passion, intimacy, and
devoted partnership.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80663" y="3429000"/>
            <a:ext cx="2487168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9DD"/>
            </a:solidFill>
          </a:ln>
          <a:effectLst/>
          <a:effectLst>
            <a:outerShdw blurRad="90000" dist="38100" dir="5400000" rotWithShape="0">
              <a:srgbClr val="B8405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76191" y="3730752"/>
            <a:ext cx="896112" cy="896112"/>
          </a:xfrm>
          <a:prstGeom prst="ellipse">
            <a:avLst/>
          </a:prstGeom>
          <a:solidFill>
            <a:srgbClr val="B8405C"/>
          </a:solidFill>
          <a:ln>
            <a:noFill/>
          </a:ln>
          <a:effectLst/>
          <a:effectLst>
            <a:outerShdw blurRad="90000" dist="38100" dir="5400000" rotWithShape="0">
              <a:srgbClr val="B8405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4518141" y="3972702"/>
            <a:ext cx="412211" cy="18137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63485" y="4154075"/>
            <a:ext cx="321524" cy="23083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art 17"/>
          <p:cNvSpPr/>
          <p:nvPr/>
        </p:nvSpPr>
        <p:spPr>
          <a:xfrm>
            <a:off x="4674782" y="4281036"/>
            <a:ext cx="98930" cy="98930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17823" y="4727448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 i="0">
                <a:solidFill>
                  <a:srgbClr val="3A2C30"/>
                </a:solidFill>
                <a:latin typeface="Georgia"/>
              </a:rPr>
              <a:t>Family Love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63543" y="5184648"/>
            <a:ext cx="21214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8C7B80"/>
                </a:solidFill>
                <a:latin typeface="Segoe UI"/>
              </a:rPr>
              <a:t>Unconditional bonds
that shape who we are.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3863" y="3429000"/>
            <a:ext cx="2487168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9DD"/>
            </a:solidFill>
          </a:ln>
          <a:effectLst/>
          <a:effectLst>
            <a:outerShdw blurRad="90000" dist="38100" dir="5400000" rotWithShape="0">
              <a:srgbClr val="B8405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19391" y="3730752"/>
            <a:ext cx="896112" cy="896112"/>
          </a:xfrm>
          <a:prstGeom prst="ellipse">
            <a:avLst/>
          </a:prstGeom>
          <a:solidFill>
            <a:srgbClr val="C7A24A"/>
          </a:solidFill>
          <a:ln>
            <a:noFill/>
          </a:ln>
          <a:effectLst/>
          <a:effectLst>
            <a:outerShdw blurRad="90000" dist="38100" dir="5400000" rotWithShape="0">
              <a:srgbClr val="B8405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miley Face 22"/>
          <p:cNvSpPr/>
          <p:nvPr/>
        </p:nvSpPr>
        <p:spPr>
          <a:xfrm>
            <a:off x="7261341" y="3972702"/>
            <a:ext cx="412211" cy="412211"/>
          </a:xfrm>
          <a:prstGeom prst="smileyFac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1023" y="4727448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 i="0">
                <a:solidFill>
                  <a:srgbClr val="3A2C30"/>
                </a:solidFill>
                <a:latin typeface="Georgia"/>
              </a:rPr>
              <a:t>Friendship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6743" y="5184648"/>
            <a:ext cx="21214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8C7B80"/>
                </a:solidFill>
                <a:latin typeface="Segoe UI"/>
              </a:rPr>
              <a:t>Loyalty, trust, and
shared joy over time.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7063" y="3429000"/>
            <a:ext cx="2487168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9DD"/>
            </a:solidFill>
          </a:ln>
          <a:effectLst/>
          <a:effectLst>
            <a:outerShdw blurRad="90000" dist="38100" dir="5400000" rotWithShape="0">
              <a:srgbClr val="B8405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762591" y="3730752"/>
            <a:ext cx="896112" cy="896112"/>
          </a:xfrm>
          <a:prstGeom prst="ellipse">
            <a:avLst/>
          </a:prstGeom>
          <a:solidFill>
            <a:srgbClr val="D95C77"/>
          </a:solidFill>
          <a:ln>
            <a:noFill/>
          </a:ln>
          <a:effectLst/>
          <a:effectLst>
            <a:outerShdw blurRad="90000" dist="38100" dir="5400000" rotWithShape="0">
              <a:srgbClr val="B8405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un 27"/>
          <p:cNvSpPr/>
          <p:nvPr/>
        </p:nvSpPr>
        <p:spPr>
          <a:xfrm>
            <a:off x="10004541" y="3972702"/>
            <a:ext cx="412211" cy="412211"/>
          </a:xfrm>
          <a:prstGeom prst="su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04223" y="4727448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 i="0">
                <a:solidFill>
                  <a:srgbClr val="3A2C30"/>
                </a:solidFill>
                <a:latin typeface="Georgia"/>
              </a:rPr>
              <a:t>Self-Love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9943" y="5184648"/>
            <a:ext cx="21214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8C7B80"/>
                </a:solidFill>
                <a:latin typeface="Segoe UI"/>
              </a:rPr>
              <a:t>Compassion and respect
for one’s own worth.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4415" y="629107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150">
                <a:solidFill>
                  <a:srgbClr val="8C7B80"/>
                </a:solidFill>
                <a:latin typeface="Segoe UI"/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180">
                <a:solidFill>
                  <a:srgbClr val="8C7B80"/>
                </a:solidFill>
                <a:latin typeface="Segoe UI"/>
              </a:rPr>
              <a:t>LOVE  —  THE UNIVERSAL LANGUAGE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63840" y="-457200"/>
            <a:ext cx="5029200" cy="7772400"/>
          </a:xfrm>
          <a:prstGeom prst="rect">
            <a:avLst/>
          </a:prstGeom>
          <a:solidFill>
            <a:srgbClr val="FAEFF1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rt 3"/>
          <p:cNvSpPr/>
          <p:nvPr/>
        </p:nvSpPr>
        <p:spPr>
          <a:xfrm>
            <a:off x="9966960" y="640080"/>
            <a:ext cx="2011680" cy="2011680"/>
          </a:xfrm>
          <a:prstGeom prst="heart">
            <a:avLst/>
          </a:prstGeom>
          <a:solidFill>
            <a:srgbClr val="D95C77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art 4"/>
          <p:cNvSpPr/>
          <p:nvPr/>
        </p:nvSpPr>
        <p:spPr>
          <a:xfrm>
            <a:off x="841248" y="786384"/>
            <a:ext cx="274320" cy="274320"/>
          </a:xfrm>
          <a:prstGeom prst="heart">
            <a:avLst/>
          </a:prstGeom>
          <a:solidFill>
            <a:srgbClr val="D95C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43584" y="8412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320">
                <a:solidFill>
                  <a:srgbClr val="D95C77"/>
                </a:solidFill>
                <a:latin typeface="Segoe UI"/>
              </a:rPr>
              <a:t>SECTION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3A2C30"/>
                </a:solidFill>
                <a:latin typeface="Georgia"/>
              </a:rPr>
              <a:t>Why Love Matters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975104"/>
            <a:ext cx="822960" cy="320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2140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8C7B80"/>
                </a:solidFill>
                <a:latin typeface="Segoe UI"/>
              </a:rPr>
              <a:t>Connection is one of the strongest predictors of a healthy, meaningful life.</a:t>
            </a:r>
          </a:p>
        </p:txBody>
      </p:sp>
      <p:sp>
        <p:nvSpPr>
          <p:cNvPr id="10" name="Oval 9"/>
          <p:cNvSpPr/>
          <p:nvPr/>
        </p:nvSpPr>
        <p:spPr>
          <a:xfrm>
            <a:off x="905256" y="2788920"/>
            <a:ext cx="658368" cy="658368"/>
          </a:xfrm>
          <a:prstGeom prst="ellipse">
            <a:avLst/>
          </a:prstGeom>
          <a:solidFill>
            <a:srgbClr val="D95C77"/>
          </a:solidFill>
          <a:ln>
            <a:noFill/>
          </a:ln>
          <a:effectLst/>
          <a:effectLst>
            <a:outerShdw blurRad="90000" dist="38100" dir="5400000" rotWithShape="0">
              <a:srgbClr val="B8405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miley Face 10"/>
          <p:cNvSpPr/>
          <p:nvPr/>
        </p:nvSpPr>
        <p:spPr>
          <a:xfrm>
            <a:off x="1069848" y="2953511"/>
            <a:ext cx="329184" cy="329184"/>
          </a:xfrm>
          <a:prstGeom prst="smileyFac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74519" y="2752344"/>
            <a:ext cx="9052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3A2C30"/>
                </a:solidFill>
                <a:latin typeface="Georgia"/>
              </a:rPr>
              <a:t>Mental Health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118103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8C7B80"/>
                </a:solidFill>
                <a:latin typeface="Segoe UI"/>
              </a:rPr>
              <a:t>Lowers stress and anxiety while boosting happiness and resilience.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74519" y="3611879"/>
            <a:ext cx="8686800" cy="12801"/>
          </a:xfrm>
          <a:prstGeom prst="rect">
            <a:avLst/>
          </a:prstGeom>
          <a:solidFill>
            <a:srgbClr val="EB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05256" y="3721608"/>
            <a:ext cx="658368" cy="658368"/>
          </a:xfrm>
          <a:prstGeom prst="ellipse">
            <a:avLst/>
          </a:prstGeom>
          <a:solidFill>
            <a:srgbClr val="B8405C"/>
          </a:solidFill>
          <a:ln>
            <a:noFill/>
          </a:ln>
          <a:effectLst/>
          <a:effectLst>
            <a:outerShdw blurRad="90000" dist="38100" dir="5400000" rotWithShape="0">
              <a:srgbClr val="B8405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rt 15"/>
          <p:cNvSpPr/>
          <p:nvPr/>
        </p:nvSpPr>
        <p:spPr>
          <a:xfrm>
            <a:off x="1069848" y="3886200"/>
            <a:ext cx="329184" cy="329184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74519" y="3685032"/>
            <a:ext cx="9052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3A2C30"/>
                </a:solidFill>
                <a:latin typeface="Georgia"/>
              </a:rPr>
              <a:t>Physical Well-Being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050792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8C7B80"/>
                </a:solidFill>
                <a:latin typeface="Segoe UI"/>
              </a:rPr>
              <a:t>Strong bonds support heart health, immunity, and longevity.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74519" y="4544568"/>
            <a:ext cx="8686800" cy="12801"/>
          </a:xfrm>
          <a:prstGeom prst="rect">
            <a:avLst/>
          </a:prstGeom>
          <a:solidFill>
            <a:srgbClr val="EB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05256" y="4654296"/>
            <a:ext cx="658368" cy="658368"/>
          </a:xfrm>
          <a:prstGeom prst="ellipse">
            <a:avLst/>
          </a:prstGeom>
          <a:solidFill>
            <a:srgbClr val="C7A24A"/>
          </a:solidFill>
          <a:ln>
            <a:noFill/>
          </a:ln>
          <a:effectLst/>
          <a:effectLst>
            <a:outerShdw blurRad="90000" dist="38100" dir="5400000" rotWithShape="0">
              <a:srgbClr val="B8405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5-Point Star 20"/>
          <p:cNvSpPr/>
          <p:nvPr/>
        </p:nvSpPr>
        <p:spPr>
          <a:xfrm>
            <a:off x="1069848" y="4818888"/>
            <a:ext cx="329184" cy="329184"/>
          </a:xfrm>
          <a:prstGeom prst="star5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74519" y="4617720"/>
            <a:ext cx="9052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3A2C30"/>
                </a:solidFill>
                <a:latin typeface="Georgia"/>
              </a:rPr>
              <a:t>Relationships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4983480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8C7B80"/>
                </a:solidFill>
                <a:latin typeface="Segoe UI"/>
              </a:rPr>
              <a:t>Builds trust, belonging, and communities that thrive together.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74519" y="5477256"/>
            <a:ext cx="8686800" cy="12801"/>
          </a:xfrm>
          <a:prstGeom prst="rect">
            <a:avLst/>
          </a:prstGeom>
          <a:solidFill>
            <a:srgbClr val="EB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05256" y="5586983"/>
            <a:ext cx="658368" cy="658368"/>
          </a:xfrm>
          <a:prstGeom prst="ellipse">
            <a:avLst/>
          </a:prstGeom>
          <a:solidFill>
            <a:srgbClr val="D95C77"/>
          </a:solidFill>
          <a:ln>
            <a:noFill/>
          </a:ln>
          <a:effectLst/>
          <a:effectLst>
            <a:outerShdw blurRad="90000" dist="38100" dir="5400000" rotWithShape="0">
              <a:srgbClr val="B8405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Up Arrow 25"/>
          <p:cNvSpPr/>
          <p:nvPr/>
        </p:nvSpPr>
        <p:spPr>
          <a:xfrm>
            <a:off x="1069848" y="5751576"/>
            <a:ext cx="329184" cy="329184"/>
          </a:xfrm>
          <a:prstGeom prst="upArrow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74519" y="5550407"/>
            <a:ext cx="9052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3A2C30"/>
                </a:solidFill>
                <a:latin typeface="Georgia"/>
              </a:rPr>
              <a:t>Personal Growth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4519" y="5916168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8C7B80"/>
                </a:solidFill>
                <a:latin typeface="Segoe UI"/>
              </a:rPr>
              <a:t>Encourages empathy, purpose, and the courage to evolve.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94415" y="629107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150">
                <a:solidFill>
                  <a:srgbClr val="8C7B80"/>
                </a:solidFill>
                <a:latin typeface="Segoe UI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180">
                <a:solidFill>
                  <a:srgbClr val="8C7B80"/>
                </a:solidFill>
                <a:latin typeface="Segoe UI"/>
              </a:rPr>
              <a:t>LOVE  —  THE UNIVERSAL LANGUAGE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art 2"/>
          <p:cNvSpPr/>
          <p:nvPr/>
        </p:nvSpPr>
        <p:spPr>
          <a:xfrm>
            <a:off x="182880" y="4754880"/>
            <a:ext cx="2194560" cy="2194560"/>
          </a:xfrm>
          <a:prstGeom prst="heart">
            <a:avLst/>
          </a:prstGeom>
          <a:solidFill>
            <a:srgbClr val="FBE4E8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rt 3"/>
          <p:cNvSpPr/>
          <p:nvPr/>
        </p:nvSpPr>
        <p:spPr>
          <a:xfrm>
            <a:off x="841248" y="786384"/>
            <a:ext cx="274320" cy="274320"/>
          </a:xfrm>
          <a:prstGeom prst="heart">
            <a:avLst/>
          </a:prstGeom>
          <a:solidFill>
            <a:srgbClr val="D95C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43584" y="8412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320">
                <a:solidFill>
                  <a:srgbClr val="D95C77"/>
                </a:solidFill>
                <a:latin typeface="Segoe UI"/>
              </a:rPr>
              <a:t>SECTION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3A2C30"/>
                </a:solidFill>
                <a:latin typeface="Georgia"/>
              </a:rPr>
              <a:t>Ways to Express Love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975104"/>
            <a:ext cx="822960" cy="320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2140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8C7B80"/>
                </a:solidFill>
                <a:latin typeface="Segoe UI"/>
              </a:rPr>
              <a:t>Small, consistent acts communicate love more powerfully than words alone.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2871" y="2880360"/>
            <a:ext cx="2048256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9DD"/>
            </a:solidFill>
          </a:ln>
          <a:effectLst/>
          <a:effectLst>
            <a:outerShdw blurRad="90000" dist="38100" dir="5400000" rotWithShape="0">
              <a:srgbClr val="B8405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ingle Corner Rectangle 9"/>
          <p:cNvSpPr/>
          <p:nvPr/>
        </p:nvSpPr>
        <p:spPr>
          <a:xfrm>
            <a:off x="572871" y="2880360"/>
            <a:ext cx="2048256" cy="109728"/>
          </a:xfrm>
          <a:prstGeom prst="round1Rect">
            <a:avLst/>
          </a:prstGeom>
          <a:solidFill>
            <a:srgbClr val="D95C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039" y="3136391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100">
                <a:solidFill>
                  <a:srgbClr val="D95C77"/>
                </a:solidFill>
                <a:latin typeface="Georgia"/>
              </a:rPr>
              <a:t>01</a:t>
            </a:r>
          </a:p>
        </p:txBody>
      </p:sp>
      <p:sp>
        <p:nvSpPr>
          <p:cNvPr id="12" name="Oval 11"/>
          <p:cNvSpPr/>
          <p:nvPr/>
        </p:nvSpPr>
        <p:spPr>
          <a:xfrm>
            <a:off x="1203807" y="3630168"/>
            <a:ext cx="786384" cy="786384"/>
          </a:xfrm>
          <a:prstGeom prst="ellipse">
            <a:avLst/>
          </a:prstGeom>
          <a:solidFill>
            <a:srgbClr val="D95C77"/>
          </a:solidFill>
          <a:ln>
            <a:noFill/>
          </a:ln>
          <a:effectLst/>
          <a:effectLst>
            <a:outerShdw blurRad="90000" dist="38100" dir="5400000" rotWithShape="0">
              <a:srgbClr val="B8405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eart 12"/>
          <p:cNvSpPr/>
          <p:nvPr/>
        </p:nvSpPr>
        <p:spPr>
          <a:xfrm>
            <a:off x="1416131" y="3842491"/>
            <a:ext cx="361736" cy="361736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2599" y="45720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3A2C30"/>
                </a:solidFill>
                <a:latin typeface="Georgia"/>
              </a:rPr>
              <a:t>Kind Words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9175" y="5029200"/>
            <a:ext cx="175564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8C7B80"/>
                </a:solidFill>
                <a:latin typeface="Segoe UI"/>
              </a:rPr>
              <a:t>Encourage and
affirm sincerely.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22295" y="2880360"/>
            <a:ext cx="2048256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9DD"/>
            </a:solidFill>
          </a:ln>
          <a:effectLst/>
          <a:effectLst>
            <a:outerShdw blurRad="90000" dist="38100" dir="5400000" rotWithShape="0">
              <a:srgbClr val="B8405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ingle Corner Rectangle 16"/>
          <p:cNvSpPr/>
          <p:nvPr/>
        </p:nvSpPr>
        <p:spPr>
          <a:xfrm>
            <a:off x="2822295" y="2880360"/>
            <a:ext cx="2048256" cy="109728"/>
          </a:xfrm>
          <a:prstGeom prst="round1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23463" y="3136391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100">
                <a:solidFill>
                  <a:srgbClr val="C7A24A"/>
                </a:solidFill>
                <a:latin typeface="Georgia"/>
              </a:rPr>
              <a:t>02</a:t>
            </a:r>
          </a:p>
        </p:txBody>
      </p:sp>
      <p:sp>
        <p:nvSpPr>
          <p:cNvPr id="19" name="Oval 18"/>
          <p:cNvSpPr/>
          <p:nvPr/>
        </p:nvSpPr>
        <p:spPr>
          <a:xfrm>
            <a:off x="3453231" y="3630168"/>
            <a:ext cx="786384" cy="786384"/>
          </a:xfrm>
          <a:prstGeom prst="ellipse">
            <a:avLst/>
          </a:prstGeom>
          <a:solidFill>
            <a:srgbClr val="C7A24A"/>
          </a:solidFill>
          <a:ln>
            <a:noFill/>
          </a:ln>
          <a:effectLst/>
          <a:effectLst>
            <a:outerShdw blurRad="90000" dist="38100" dir="5400000" rotWithShape="0">
              <a:srgbClr val="B8405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un 19"/>
          <p:cNvSpPr/>
          <p:nvPr/>
        </p:nvSpPr>
        <p:spPr>
          <a:xfrm>
            <a:off x="3665555" y="3842491"/>
            <a:ext cx="361736" cy="361736"/>
          </a:xfrm>
          <a:prstGeom prst="su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32023" y="45720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3A2C30"/>
                </a:solidFill>
                <a:latin typeface="Georgia"/>
              </a:rPr>
              <a:t>Quality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68599" y="5029200"/>
            <a:ext cx="175564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8C7B80"/>
                </a:solidFill>
                <a:latin typeface="Segoe UI"/>
              </a:rPr>
              <a:t>Be fully present,
without distraction.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71719" y="2880360"/>
            <a:ext cx="2048256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9DD"/>
            </a:solidFill>
          </a:ln>
          <a:effectLst/>
          <a:effectLst>
            <a:outerShdw blurRad="90000" dist="38100" dir="5400000" rotWithShape="0">
              <a:srgbClr val="B8405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 Single Corner Rectangle 23"/>
          <p:cNvSpPr/>
          <p:nvPr/>
        </p:nvSpPr>
        <p:spPr>
          <a:xfrm>
            <a:off x="5071719" y="2880360"/>
            <a:ext cx="2048256" cy="109728"/>
          </a:xfrm>
          <a:prstGeom prst="round1Rect">
            <a:avLst/>
          </a:prstGeom>
          <a:solidFill>
            <a:srgbClr val="B84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72887" y="3136391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100">
                <a:solidFill>
                  <a:srgbClr val="B8405C"/>
                </a:solidFill>
                <a:latin typeface="Georgia"/>
              </a:rPr>
              <a:t>03</a:t>
            </a:r>
          </a:p>
        </p:txBody>
      </p:sp>
      <p:sp>
        <p:nvSpPr>
          <p:cNvPr id="26" name="Oval 25"/>
          <p:cNvSpPr/>
          <p:nvPr/>
        </p:nvSpPr>
        <p:spPr>
          <a:xfrm>
            <a:off x="5702655" y="3630168"/>
            <a:ext cx="786384" cy="786384"/>
          </a:xfrm>
          <a:prstGeom prst="ellipse">
            <a:avLst/>
          </a:prstGeom>
          <a:solidFill>
            <a:srgbClr val="B8405C"/>
          </a:solidFill>
          <a:ln>
            <a:noFill/>
          </a:ln>
          <a:effectLst/>
          <a:effectLst>
            <a:outerShdw blurRad="90000" dist="38100" dir="5400000" rotWithShape="0">
              <a:srgbClr val="B8405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Heart 26"/>
          <p:cNvSpPr/>
          <p:nvPr/>
        </p:nvSpPr>
        <p:spPr>
          <a:xfrm>
            <a:off x="5914979" y="3842491"/>
            <a:ext cx="361736" cy="361736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81447" y="45720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3A2C30"/>
                </a:solidFill>
                <a:latin typeface="Georgia"/>
              </a:rPr>
              <a:t>Acts of Kindness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8023" y="5029200"/>
            <a:ext cx="175564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8C7B80"/>
                </a:solidFill>
                <a:latin typeface="Segoe UI"/>
              </a:rPr>
              <a:t>Help freely, expecting
nothing in return.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21143" y="2880360"/>
            <a:ext cx="2048256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9DD"/>
            </a:solidFill>
          </a:ln>
          <a:effectLst/>
          <a:effectLst>
            <a:outerShdw blurRad="90000" dist="38100" dir="5400000" rotWithShape="0">
              <a:srgbClr val="B8405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ingle Corner Rectangle 30"/>
          <p:cNvSpPr/>
          <p:nvPr/>
        </p:nvSpPr>
        <p:spPr>
          <a:xfrm>
            <a:off x="7321143" y="2880360"/>
            <a:ext cx="2048256" cy="109728"/>
          </a:xfrm>
          <a:prstGeom prst="round1Rect">
            <a:avLst/>
          </a:prstGeom>
          <a:solidFill>
            <a:srgbClr val="D95C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2311" y="3136391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100">
                <a:solidFill>
                  <a:srgbClr val="D95C77"/>
                </a:solidFill>
                <a:latin typeface="Georgia"/>
              </a:rPr>
              <a:t>04</a:t>
            </a:r>
          </a:p>
        </p:txBody>
      </p:sp>
      <p:sp>
        <p:nvSpPr>
          <p:cNvPr id="33" name="Oval 32"/>
          <p:cNvSpPr/>
          <p:nvPr/>
        </p:nvSpPr>
        <p:spPr>
          <a:xfrm>
            <a:off x="7952079" y="3630168"/>
            <a:ext cx="786384" cy="786384"/>
          </a:xfrm>
          <a:prstGeom prst="ellipse">
            <a:avLst/>
          </a:prstGeom>
          <a:solidFill>
            <a:srgbClr val="D95C77"/>
          </a:solidFill>
          <a:ln>
            <a:noFill/>
          </a:ln>
          <a:effectLst/>
          <a:effectLst>
            <a:outerShdw blurRad="90000" dist="38100" dir="5400000" rotWithShape="0">
              <a:srgbClr val="B8405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miley Face 33"/>
          <p:cNvSpPr/>
          <p:nvPr/>
        </p:nvSpPr>
        <p:spPr>
          <a:xfrm>
            <a:off x="8164403" y="3842491"/>
            <a:ext cx="361736" cy="361736"/>
          </a:xfrm>
          <a:prstGeom prst="smileyFac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30871" y="45720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3A2C30"/>
                </a:solidFill>
                <a:latin typeface="Georgia"/>
              </a:rPr>
              <a:t>Listening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7447" y="5029200"/>
            <a:ext cx="175564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8C7B80"/>
                </a:solidFill>
                <a:latin typeface="Segoe UI"/>
              </a:rPr>
              <a:t>Seek to understand
before responding.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70567" y="2880360"/>
            <a:ext cx="2048256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9DD"/>
            </a:solidFill>
          </a:ln>
          <a:effectLst/>
          <a:effectLst>
            <a:outerShdw blurRad="90000" dist="38100" dir="5400000" rotWithShape="0">
              <a:srgbClr val="B8405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 Single Corner Rectangle 37"/>
          <p:cNvSpPr/>
          <p:nvPr/>
        </p:nvSpPr>
        <p:spPr>
          <a:xfrm>
            <a:off x="9570567" y="2880360"/>
            <a:ext cx="2048256" cy="109728"/>
          </a:xfrm>
          <a:prstGeom prst="round1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71735" y="3136391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100">
                <a:solidFill>
                  <a:srgbClr val="C7A24A"/>
                </a:solidFill>
                <a:latin typeface="Georgia"/>
              </a:rPr>
              <a:t>05</a:t>
            </a:r>
          </a:p>
        </p:txBody>
      </p:sp>
      <p:sp>
        <p:nvSpPr>
          <p:cNvPr id="40" name="Oval 39"/>
          <p:cNvSpPr/>
          <p:nvPr/>
        </p:nvSpPr>
        <p:spPr>
          <a:xfrm>
            <a:off x="10201503" y="3630168"/>
            <a:ext cx="786384" cy="786384"/>
          </a:xfrm>
          <a:prstGeom prst="ellipse">
            <a:avLst/>
          </a:prstGeom>
          <a:solidFill>
            <a:srgbClr val="C7A24A"/>
          </a:solidFill>
          <a:ln>
            <a:noFill/>
          </a:ln>
          <a:effectLst/>
          <a:effectLst>
            <a:outerShdw blurRad="90000" dist="38100" dir="5400000" rotWithShape="0">
              <a:srgbClr val="B8405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5-Point Star 40"/>
          <p:cNvSpPr/>
          <p:nvPr/>
        </p:nvSpPr>
        <p:spPr>
          <a:xfrm>
            <a:off x="10413827" y="3842491"/>
            <a:ext cx="361736" cy="361736"/>
          </a:xfrm>
          <a:prstGeom prst="star5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80295" y="45720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3A2C30"/>
                </a:solidFill>
                <a:latin typeface="Georgia"/>
              </a:rPr>
              <a:t>Respect &amp; Support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16871" y="5029200"/>
            <a:ext cx="175564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8C7B80"/>
                </a:solidFill>
                <a:latin typeface="Segoe UI"/>
              </a:rPr>
              <a:t>Honor others and
stand beside them.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94415" y="629107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150">
                <a:solidFill>
                  <a:srgbClr val="8C7B80"/>
                </a:solidFill>
                <a:latin typeface="Segoe UI"/>
              </a:rPr>
              <a:t>04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180">
                <a:solidFill>
                  <a:srgbClr val="8C7B80"/>
                </a:solidFill>
                <a:latin typeface="Segoe UI"/>
              </a:rPr>
              <a:t>LOVE  —  THE UNIVERSAL LANGUAGE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BE4E8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rt 3"/>
          <p:cNvSpPr/>
          <p:nvPr/>
        </p:nvSpPr>
        <p:spPr>
          <a:xfrm>
            <a:off x="9509760" y="457200"/>
            <a:ext cx="3108960" cy="3108960"/>
          </a:xfrm>
          <a:prstGeom prst="heart">
            <a:avLst/>
          </a:prstGeom>
          <a:solidFill>
            <a:srgbClr val="D95C77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art 4"/>
          <p:cNvSpPr/>
          <p:nvPr/>
        </p:nvSpPr>
        <p:spPr>
          <a:xfrm>
            <a:off x="365760" y="4023360"/>
            <a:ext cx="2560320" cy="2560320"/>
          </a:xfrm>
          <a:prstGeom prst="heart">
            <a:avLst/>
          </a:prstGeom>
          <a:solidFill>
            <a:srgbClr val="C7A24A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art 5"/>
          <p:cNvSpPr/>
          <p:nvPr/>
        </p:nvSpPr>
        <p:spPr>
          <a:xfrm>
            <a:off x="5912967" y="777240"/>
            <a:ext cx="365760" cy="365760"/>
          </a:xfrm>
          <a:prstGeom prst="heart">
            <a:avLst/>
          </a:prstGeom>
          <a:solidFill>
            <a:srgbClr val="D95C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1280160"/>
            <a:ext cx="121916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 spc="320">
                <a:solidFill>
                  <a:srgbClr val="D95C77"/>
                </a:solidFill>
                <a:latin typeface="Segoe UI"/>
              </a:rPr>
              <a:t>IN 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783080"/>
            <a:ext cx="94484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700" b="0" i="0">
                <a:solidFill>
                  <a:srgbClr val="3A2C30"/>
                </a:solidFill>
                <a:latin typeface="Georgia"/>
              </a:rPr>
              <a:t>Love is not only a feeling — it is a </a:t>
            </a:r>
            <a:r>
              <a:rPr sz="2700" b="1" i="1">
                <a:solidFill>
                  <a:srgbClr val="D95C77"/>
                </a:solidFill>
                <a:latin typeface="Georgia"/>
              </a:rPr>
              <a:t>choice</a:t>
            </a:r>
            <a:r>
              <a:rPr sz="2700" b="0" i="0">
                <a:solidFill>
                  <a:srgbClr val="3A2C30"/>
                </a:solidFill>
                <a:latin typeface="Georgia"/>
              </a:rPr>
              <a:t> expressed through care, respect, and compassion.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547207" y="3429000"/>
            <a:ext cx="1097280" cy="36576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703320"/>
            <a:ext cx="85340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2300" b="0" i="1">
                <a:solidFill>
                  <a:srgbClr val="B8405C"/>
                </a:solidFill>
                <a:latin typeface="Georgia"/>
              </a:rPr>
              <a:t>“Where there is love, there is life.”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 b="0" i="0" spc="150">
                <a:solidFill>
                  <a:srgbClr val="8C7B80"/>
                </a:solidFill>
                <a:latin typeface="Segoe UI"/>
              </a:rPr>
              <a:t>— Mahatma Gandhi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074920"/>
            <a:ext cx="121916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3A2C30"/>
                </a:solidFill>
                <a:latin typeface="Georgia"/>
              </a:rPr>
              <a:t>Thank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98932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 spc="80">
                <a:solidFill>
                  <a:srgbClr val="8C7B80"/>
                </a:solidFill>
                <a:latin typeface="Segoe UI"/>
              </a:rPr>
              <a:t>Choose love, and share it generously.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Love: The Universal Language</dc:title>
  <dc:subject>Understanding the Power of Human Connection</dc:subject>
  <dc:creator>Kiro</dc:creator>
  <cp:keywords/>
  <dc:description>Understanding the Power of Human Connection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Presentation</cp:category>
</cp:coreProperties>
</file>